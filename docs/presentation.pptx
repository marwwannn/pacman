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612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184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756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328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00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472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044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616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188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760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332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904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476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04804" y="1815083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4046220" y="1440179"/>
            <a:ext cx="868680" cy="868680"/>
          </a:xfrm>
          <a:prstGeom prst="pie">
            <a:avLst>
              <a:gd name="adj1" fmla="val 1920000"/>
              <a:gd name="adj2" fmla="val 1968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5146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 spc="-300">
                <a:solidFill>
                  <a:srgbClr val="FFD23F"/>
                </a:solidFill>
                <a:latin typeface="Montserrat"/>
              </a:rPr>
              <a:t>PAC-MAN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4F5F8"/>
                </a:solidFill>
                <a:latin typeface="Montserrat"/>
              </a:rPr>
              <a:t>Un jeu, quatre joueurs artificiels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AA1B4"/>
                </a:solidFill>
                <a:latin typeface="Open Sans"/>
              </a:rPr>
              <a:t>Marwan Youmni  ·  Master 1 IA_PO  ·  2025-2026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052"/>
                </a:solidFill>
                <a:latin typeface="Open Sans"/>
              </a:rPr>
              <a:t>github.com/Marwwannn/Pacman</a:t>
            </a:r>
          </a:p>
        </p:txBody>
      </p:sp>
      <p:sp>
        <p:nvSpPr>
          <p:cNvPr id="22" name="Freeform 21"/>
          <p:cNvSpPr/>
          <p:nvPr/>
        </p:nvSpPr>
        <p:spPr>
          <a:xfrm>
            <a:off x="8076895" y="4572000"/>
            <a:ext cx="685800" cy="720090"/>
          </a:xfrm>
          <a:custGeom>
            <a:avLst/>
            <a:gdLst/>
            <a:ahLst/>
            <a:cxnLst/>
            <a:rect l="l" t="t" r="r" b="b"/>
            <a:pathLst>
              <a:path w="685800" h="720090">
                <a:moveTo>
                  <a:pt x="0" y="342900"/>
                </a:moveTo>
                <a:lnTo>
                  <a:pt x="5209" y="283356"/>
                </a:lnTo>
                <a:lnTo>
                  <a:pt x="20679" y="225621"/>
                </a:lnTo>
                <a:lnTo>
                  <a:pt x="45939" y="171450"/>
                </a:lnTo>
                <a:lnTo>
                  <a:pt x="80223" y="122488"/>
                </a:lnTo>
                <a:lnTo>
                  <a:pt x="122488" y="80223"/>
                </a:lnTo>
                <a:lnTo>
                  <a:pt x="171450" y="45939"/>
                </a:lnTo>
                <a:lnTo>
                  <a:pt x="225621" y="20679"/>
                </a:lnTo>
                <a:lnTo>
                  <a:pt x="283356" y="5209"/>
                </a:lnTo>
                <a:lnTo>
                  <a:pt x="342900" y="0"/>
                </a:lnTo>
                <a:lnTo>
                  <a:pt x="402443" y="5209"/>
                </a:lnTo>
                <a:lnTo>
                  <a:pt x="460178" y="20679"/>
                </a:lnTo>
                <a:lnTo>
                  <a:pt x="514350" y="45939"/>
                </a:lnTo>
                <a:lnTo>
                  <a:pt x="563311" y="80223"/>
                </a:lnTo>
                <a:lnTo>
                  <a:pt x="605576" y="122488"/>
                </a:lnTo>
                <a:lnTo>
                  <a:pt x="639860" y="171450"/>
                </a:lnTo>
                <a:lnTo>
                  <a:pt x="665120" y="225621"/>
                </a:lnTo>
                <a:lnTo>
                  <a:pt x="680590" y="283356"/>
                </a:lnTo>
                <a:lnTo>
                  <a:pt x="685800" y="342900"/>
                </a:lnTo>
                <a:lnTo>
                  <a:pt x="685800" y="720090"/>
                </a:lnTo>
                <a:lnTo>
                  <a:pt x="571500" y="624078"/>
                </a:lnTo>
                <a:lnTo>
                  <a:pt x="457200" y="720090"/>
                </a:lnTo>
                <a:lnTo>
                  <a:pt x="342900" y="624078"/>
                </a:lnTo>
                <a:lnTo>
                  <a:pt x="228600" y="720090"/>
                </a:lnTo>
                <a:lnTo>
                  <a:pt x="114300" y="624078"/>
                </a:lnTo>
                <a:lnTo>
                  <a:pt x="0" y="720090"/>
                </a:lnTo>
                <a:close/>
              </a:path>
            </a:pathLst>
          </a:cu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34629" y="4809287"/>
            <a:ext cx="150876" cy="192024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02523" y="4866894"/>
            <a:ext cx="67894" cy="86410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54085" y="4809287"/>
            <a:ext cx="150876" cy="192024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21979" y="4866894"/>
            <a:ext cx="67894" cy="86410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8945575" y="4572000"/>
            <a:ext cx="685800" cy="720090"/>
          </a:xfrm>
          <a:custGeom>
            <a:avLst/>
            <a:gdLst/>
            <a:ahLst/>
            <a:cxnLst/>
            <a:rect l="l" t="t" r="r" b="b"/>
            <a:pathLst>
              <a:path w="685800" h="720090">
                <a:moveTo>
                  <a:pt x="0" y="342900"/>
                </a:moveTo>
                <a:lnTo>
                  <a:pt x="5209" y="283356"/>
                </a:lnTo>
                <a:lnTo>
                  <a:pt x="20679" y="225621"/>
                </a:lnTo>
                <a:lnTo>
                  <a:pt x="45939" y="171450"/>
                </a:lnTo>
                <a:lnTo>
                  <a:pt x="80223" y="122488"/>
                </a:lnTo>
                <a:lnTo>
                  <a:pt x="122488" y="80223"/>
                </a:lnTo>
                <a:lnTo>
                  <a:pt x="171450" y="45939"/>
                </a:lnTo>
                <a:lnTo>
                  <a:pt x="225621" y="20679"/>
                </a:lnTo>
                <a:lnTo>
                  <a:pt x="283356" y="5209"/>
                </a:lnTo>
                <a:lnTo>
                  <a:pt x="342900" y="0"/>
                </a:lnTo>
                <a:lnTo>
                  <a:pt x="402443" y="5209"/>
                </a:lnTo>
                <a:lnTo>
                  <a:pt x="460178" y="20679"/>
                </a:lnTo>
                <a:lnTo>
                  <a:pt x="514350" y="45939"/>
                </a:lnTo>
                <a:lnTo>
                  <a:pt x="563311" y="80223"/>
                </a:lnTo>
                <a:lnTo>
                  <a:pt x="605576" y="122488"/>
                </a:lnTo>
                <a:lnTo>
                  <a:pt x="639860" y="171450"/>
                </a:lnTo>
                <a:lnTo>
                  <a:pt x="665120" y="225621"/>
                </a:lnTo>
                <a:lnTo>
                  <a:pt x="680590" y="283356"/>
                </a:lnTo>
                <a:lnTo>
                  <a:pt x="685800" y="342900"/>
                </a:lnTo>
                <a:lnTo>
                  <a:pt x="685800" y="720090"/>
                </a:lnTo>
                <a:lnTo>
                  <a:pt x="571500" y="624078"/>
                </a:lnTo>
                <a:lnTo>
                  <a:pt x="457200" y="720090"/>
                </a:lnTo>
                <a:lnTo>
                  <a:pt x="342900" y="624078"/>
                </a:lnTo>
                <a:lnTo>
                  <a:pt x="228600" y="720090"/>
                </a:lnTo>
                <a:lnTo>
                  <a:pt x="114300" y="624078"/>
                </a:lnTo>
                <a:lnTo>
                  <a:pt x="0" y="720090"/>
                </a:lnTo>
                <a:close/>
              </a:path>
            </a:pathLst>
          </a:custGeom>
          <a:solidFill>
            <a:srgbClr val="FF9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03309" y="4809287"/>
            <a:ext cx="150876" cy="192024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71203" y="4866894"/>
            <a:ext cx="67894" cy="86410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2765" y="4809287"/>
            <a:ext cx="150876" cy="192024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90659" y="4866894"/>
            <a:ext cx="67894" cy="86410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9814255" y="4572000"/>
            <a:ext cx="685800" cy="720090"/>
          </a:xfrm>
          <a:custGeom>
            <a:avLst/>
            <a:gdLst/>
            <a:ahLst/>
            <a:cxnLst/>
            <a:rect l="l" t="t" r="r" b="b"/>
            <a:pathLst>
              <a:path w="685800" h="720090">
                <a:moveTo>
                  <a:pt x="0" y="342900"/>
                </a:moveTo>
                <a:lnTo>
                  <a:pt x="5209" y="283356"/>
                </a:lnTo>
                <a:lnTo>
                  <a:pt x="20679" y="225621"/>
                </a:lnTo>
                <a:lnTo>
                  <a:pt x="45939" y="171450"/>
                </a:lnTo>
                <a:lnTo>
                  <a:pt x="80223" y="122488"/>
                </a:lnTo>
                <a:lnTo>
                  <a:pt x="122488" y="80223"/>
                </a:lnTo>
                <a:lnTo>
                  <a:pt x="171450" y="45939"/>
                </a:lnTo>
                <a:lnTo>
                  <a:pt x="225621" y="20679"/>
                </a:lnTo>
                <a:lnTo>
                  <a:pt x="283356" y="5209"/>
                </a:lnTo>
                <a:lnTo>
                  <a:pt x="342900" y="0"/>
                </a:lnTo>
                <a:lnTo>
                  <a:pt x="402443" y="5209"/>
                </a:lnTo>
                <a:lnTo>
                  <a:pt x="460178" y="20679"/>
                </a:lnTo>
                <a:lnTo>
                  <a:pt x="514350" y="45939"/>
                </a:lnTo>
                <a:lnTo>
                  <a:pt x="563311" y="80223"/>
                </a:lnTo>
                <a:lnTo>
                  <a:pt x="605576" y="122488"/>
                </a:lnTo>
                <a:lnTo>
                  <a:pt x="639860" y="171450"/>
                </a:lnTo>
                <a:lnTo>
                  <a:pt x="665120" y="225621"/>
                </a:lnTo>
                <a:lnTo>
                  <a:pt x="680590" y="283356"/>
                </a:lnTo>
                <a:lnTo>
                  <a:pt x="685800" y="342900"/>
                </a:lnTo>
                <a:lnTo>
                  <a:pt x="685800" y="720090"/>
                </a:lnTo>
                <a:lnTo>
                  <a:pt x="571500" y="624078"/>
                </a:lnTo>
                <a:lnTo>
                  <a:pt x="457200" y="720090"/>
                </a:lnTo>
                <a:lnTo>
                  <a:pt x="342900" y="624078"/>
                </a:lnTo>
                <a:lnTo>
                  <a:pt x="228600" y="720090"/>
                </a:lnTo>
                <a:lnTo>
                  <a:pt x="114300" y="624078"/>
                </a:lnTo>
                <a:lnTo>
                  <a:pt x="0" y="720090"/>
                </a:lnTo>
                <a:close/>
              </a:path>
            </a:pathLst>
          </a:custGeom>
          <a:solidFill>
            <a:srgbClr val="4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71989" y="4809287"/>
            <a:ext cx="150876" cy="192024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39883" y="4866894"/>
            <a:ext cx="67894" cy="86410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91445" y="4809287"/>
            <a:ext cx="150876" cy="192024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59339" y="4866894"/>
            <a:ext cx="67894" cy="86410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0682935" y="4572000"/>
            <a:ext cx="685800" cy="720090"/>
          </a:xfrm>
          <a:custGeom>
            <a:avLst/>
            <a:gdLst/>
            <a:ahLst/>
            <a:cxnLst/>
            <a:rect l="l" t="t" r="r" b="b"/>
            <a:pathLst>
              <a:path w="685800" h="720090">
                <a:moveTo>
                  <a:pt x="0" y="342900"/>
                </a:moveTo>
                <a:lnTo>
                  <a:pt x="5209" y="283356"/>
                </a:lnTo>
                <a:lnTo>
                  <a:pt x="20679" y="225621"/>
                </a:lnTo>
                <a:lnTo>
                  <a:pt x="45939" y="171450"/>
                </a:lnTo>
                <a:lnTo>
                  <a:pt x="80223" y="122488"/>
                </a:lnTo>
                <a:lnTo>
                  <a:pt x="122488" y="80223"/>
                </a:lnTo>
                <a:lnTo>
                  <a:pt x="171450" y="45939"/>
                </a:lnTo>
                <a:lnTo>
                  <a:pt x="225621" y="20679"/>
                </a:lnTo>
                <a:lnTo>
                  <a:pt x="283356" y="5209"/>
                </a:lnTo>
                <a:lnTo>
                  <a:pt x="342900" y="0"/>
                </a:lnTo>
                <a:lnTo>
                  <a:pt x="402443" y="5209"/>
                </a:lnTo>
                <a:lnTo>
                  <a:pt x="460178" y="20679"/>
                </a:lnTo>
                <a:lnTo>
                  <a:pt x="514350" y="45939"/>
                </a:lnTo>
                <a:lnTo>
                  <a:pt x="563311" y="80223"/>
                </a:lnTo>
                <a:lnTo>
                  <a:pt x="605576" y="122488"/>
                </a:lnTo>
                <a:lnTo>
                  <a:pt x="639860" y="171450"/>
                </a:lnTo>
                <a:lnTo>
                  <a:pt x="665120" y="225621"/>
                </a:lnTo>
                <a:lnTo>
                  <a:pt x="680590" y="283356"/>
                </a:lnTo>
                <a:lnTo>
                  <a:pt x="685800" y="342900"/>
                </a:lnTo>
                <a:lnTo>
                  <a:pt x="685800" y="720090"/>
                </a:lnTo>
                <a:lnTo>
                  <a:pt x="571500" y="624078"/>
                </a:lnTo>
                <a:lnTo>
                  <a:pt x="457200" y="720090"/>
                </a:lnTo>
                <a:lnTo>
                  <a:pt x="342900" y="624078"/>
                </a:lnTo>
                <a:lnTo>
                  <a:pt x="228600" y="720090"/>
                </a:lnTo>
                <a:lnTo>
                  <a:pt x="114300" y="624078"/>
                </a:lnTo>
                <a:lnTo>
                  <a:pt x="0" y="720090"/>
                </a:lnTo>
                <a:close/>
              </a:path>
            </a:pathLst>
          </a:cu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840669" y="4809287"/>
            <a:ext cx="150876" cy="192024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08563" y="4866894"/>
            <a:ext cx="67894" cy="86410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060125" y="4809287"/>
            <a:ext cx="150876" cy="192024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128019" y="4866894"/>
            <a:ext cx="67894" cy="86410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D23F"/>
                </a:solidFill>
                <a:latin typeface="Montserrat"/>
              </a:rPr>
              <a:t>LE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97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3A4052"/>
                </a:solidFill>
                <a:latin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43560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F5F8"/>
                </a:solidFill>
                <a:latin typeface="Montserrat"/>
              </a:rPr>
              <a:t>J'ai construit le jeu.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84248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AA1B4"/>
                </a:solidFill>
                <a:latin typeface="Open Sans"/>
              </a:rPr>
              <a:t>Un moteur Pac-Man complet en Python, sans dépendance, et un client web pour y jouer.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651760"/>
            <a:ext cx="923544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97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3A4052"/>
                </a:solidFill>
                <a:latin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9864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F5F8"/>
                </a:solidFill>
                <a:latin typeface="Montserrat"/>
              </a:rPr>
              <a:t>Puis des IA qui y jouent.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447288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AA1B4"/>
                </a:solidFill>
                <a:latin typeface="Open Sans"/>
              </a:rPr>
              <a:t>Quatre stratégies, de la plus bête à la plus forte, dont une qui apprend seule.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4114800"/>
            <a:ext cx="923544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1097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3A4052"/>
                </a:solidFill>
                <a:latin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36168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4F5F8"/>
                </a:solidFill>
                <a:latin typeface="Montserrat"/>
              </a:rPr>
              <a:t>Puis je les ai mesurées.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910328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AA1B4"/>
                </a:solidFill>
                <a:latin typeface="Open Sans"/>
              </a:rPr>
              <a:t>100 parties chacune, sur des situations jamais vues. Le score est un nombre.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D23F"/>
                </a:solidFill>
                <a:latin typeface="Montserrat"/>
              </a:rPr>
              <a:t>LE TERRAIN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5F8"/>
                </a:solidFill>
                <a:latin typeface="Montserrat"/>
              </a:rPr>
              <a:t>Le jeu existe pour de vrai : on y joue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29968"/>
            <a:ext cx="2889504" cy="3335766"/>
          </a:xfrm>
          <a:prstGeom prst="roundRect">
            <a:avLst>
              <a:gd name="adj" fmla="val 3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rop_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2743200" cy="318946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36208" y="2029968"/>
            <a:ext cx="2889504" cy="3335766"/>
          </a:xfrm>
          <a:prstGeom prst="roundRect">
            <a:avLst>
              <a:gd name="adj" fmla="val 3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rop_ia_recherche_en_c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2743200" cy="318946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886200" y="2249424"/>
            <a:ext cx="45720" cy="128016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219456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5F8"/>
                </a:solidFill>
                <a:latin typeface="Montserrat"/>
              </a:rPr>
              <a:t>L'accueil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1B4"/>
                </a:solidFill>
                <a:latin typeface="Open Sans"/>
              </a:rPr>
              <a:t>Flèches pour jouer soi-même, ou un lien pour regarder une IA jouer à sa place.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249424"/>
            <a:ext cx="45720" cy="1828800"/>
          </a:xfrm>
          <a:prstGeom prst="rect">
            <a:avLst/>
          </a:prstGeom>
          <a:solidFill>
            <a:srgbClr val="4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219456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5F8"/>
                </a:solidFill>
                <a:latin typeface="Montserrat"/>
              </a:rPr>
              <a:t>Une partie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1B4"/>
                </a:solidFill>
                <a:latin typeface="Open Sans"/>
              </a:rPr>
              <a:t>Le serveur Python calcule tout ; le navigateur ne fait qu'afficher. Le même moteur entraîne les IA, 3 000 fois plus vite que le temps réel.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D23F"/>
                </a:solidFill>
                <a:latin typeface="Montserrat"/>
              </a:rPr>
              <a:t>POURQUOI CE JEU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4F5F8"/>
                </a:solidFill>
                <a:latin typeface="Montserrat"/>
              </a:rPr>
              <a:t>Règles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4F5F8"/>
                </a:solidFill>
                <a:latin typeface="Montserrat"/>
              </a:rPr>
              <a:t>simples.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D23F"/>
                </a:solidFill>
                <a:latin typeface="Montserrat"/>
              </a:rPr>
              <a:t>Stratégie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D23F"/>
                </a:solidFill>
                <a:latin typeface="Montserrat"/>
              </a:rPr>
              <a:t>pas du tout.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197864"/>
            <a:ext cx="45720" cy="82296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14300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4F5F8"/>
                </a:solidFill>
                <a:latin typeface="Montserrat"/>
              </a:rPr>
              <a:t>Un arbitrage permanent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9AA1B4"/>
                </a:solidFill>
                <a:latin typeface="Open Sans"/>
              </a:rPr>
              <a:t>Manger les pastilles (le gain) sans se faire attraper (le risque). À chaque croisement.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386584"/>
            <a:ext cx="45720" cy="822960"/>
          </a:xfrm>
          <a:prstGeom prst="rect">
            <a:avLst/>
          </a:prstGeom>
          <a:solidFill>
            <a:srgbClr val="4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4F5F8"/>
                </a:solidFill>
                <a:latin typeface="Montserrat"/>
              </a:rPr>
              <a:t>Des adversaires imparfaits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9AA1B4"/>
                </a:solidFill>
                <a:latin typeface="Open Sans"/>
              </a:rPr>
              <a:t>Les quatre fantômes de 1980 sont myopes : ils visent à vol d'oiseau, sans voir les murs. C'est ce qui les rend battables.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575304"/>
            <a:ext cx="45720" cy="822960"/>
          </a:xfrm>
          <a:prstGeom prst="rect">
            <a:avLst/>
          </a:prstGeom>
          <a:solidFill>
            <a:srgbClr val="5CE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52044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4F5F8"/>
                </a:solidFill>
                <a:latin typeface="Montserrat"/>
              </a:rPr>
              <a:t>Une mesure honnête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9AA1B4"/>
                </a:solidFill>
                <a:latin typeface="Open Sans"/>
              </a:rPr>
              <a:t>Le score final dit tout. Personne n'a besoin de juger.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626864"/>
            <a:ext cx="45720" cy="822960"/>
          </a:xfrm>
          <a:prstGeom prst="rect">
            <a:avLst/>
          </a:prstGeom>
          <a:solidFill>
            <a:srgbClr val="FF9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57200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4F5F8"/>
                </a:solidFill>
                <a:latin typeface="Montserrat"/>
              </a:rPr>
              <a:t>Un terrain que je contrôle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9AA1B4"/>
                </a:solidFill>
                <a:latin typeface="Open Sans"/>
              </a:rPr>
              <a:t>Quand un agent stagne, je peux distinguer « la méthode est mauvaise » de « le problème est mal posé ».</a:t>
            </a:r>
          </a:p>
        </p:txBody>
      </p:sp>
      <p:sp>
        <p:nvSpPr>
          <p:cNvPr id="14" name="Freeform 13"/>
          <p:cNvSpPr/>
          <p:nvPr/>
        </p:nvSpPr>
        <p:spPr>
          <a:xfrm>
            <a:off x="822960" y="4892040"/>
            <a:ext cx="457200" cy="480060"/>
          </a:xfrm>
          <a:custGeom>
            <a:avLst/>
            <a:gdLst/>
            <a:ahLst/>
            <a:cxnLst/>
            <a:rect l="l" t="t" r="r" b="b"/>
            <a:pathLst>
              <a:path w="457200" h="480060">
                <a:moveTo>
                  <a:pt x="0" y="228600"/>
                </a:moveTo>
                <a:lnTo>
                  <a:pt x="3472" y="188904"/>
                </a:lnTo>
                <a:lnTo>
                  <a:pt x="13786" y="150414"/>
                </a:lnTo>
                <a:lnTo>
                  <a:pt x="30626" y="114300"/>
                </a:lnTo>
                <a:lnTo>
                  <a:pt x="53482" y="81658"/>
                </a:lnTo>
                <a:lnTo>
                  <a:pt x="81658" y="53482"/>
                </a:lnTo>
                <a:lnTo>
                  <a:pt x="114300" y="30626"/>
                </a:lnTo>
                <a:lnTo>
                  <a:pt x="150414" y="13786"/>
                </a:lnTo>
                <a:lnTo>
                  <a:pt x="188904" y="3472"/>
                </a:lnTo>
                <a:lnTo>
                  <a:pt x="228600" y="0"/>
                </a:lnTo>
                <a:lnTo>
                  <a:pt x="268295" y="3472"/>
                </a:lnTo>
                <a:lnTo>
                  <a:pt x="306785" y="13786"/>
                </a:lnTo>
                <a:lnTo>
                  <a:pt x="342900" y="30626"/>
                </a:lnTo>
                <a:lnTo>
                  <a:pt x="375541" y="53482"/>
                </a:lnTo>
                <a:lnTo>
                  <a:pt x="403717" y="81658"/>
                </a:lnTo>
                <a:lnTo>
                  <a:pt x="426573" y="114300"/>
                </a:lnTo>
                <a:lnTo>
                  <a:pt x="443413" y="150414"/>
                </a:lnTo>
                <a:lnTo>
                  <a:pt x="453727" y="188904"/>
                </a:lnTo>
                <a:lnTo>
                  <a:pt x="457200" y="228600"/>
                </a:lnTo>
                <a:lnTo>
                  <a:pt x="457200" y="480060"/>
                </a:lnTo>
                <a:lnTo>
                  <a:pt x="381000" y="416052"/>
                </a:lnTo>
                <a:lnTo>
                  <a:pt x="304800" y="480060"/>
                </a:lnTo>
                <a:lnTo>
                  <a:pt x="228600" y="416052"/>
                </a:lnTo>
                <a:lnTo>
                  <a:pt x="152400" y="480060"/>
                </a:lnTo>
                <a:lnTo>
                  <a:pt x="76200" y="416052"/>
                </a:lnTo>
                <a:lnTo>
                  <a:pt x="0" y="480060"/>
                </a:lnTo>
                <a:close/>
              </a:path>
            </a:pathLst>
          </a:cu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8116" y="5050232"/>
            <a:ext cx="100584" cy="128016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3378" y="5088636"/>
            <a:ext cx="45262" cy="57607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4420" y="5050232"/>
            <a:ext cx="100584" cy="128016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682" y="5088636"/>
            <a:ext cx="45262" cy="57607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463040" y="4892040"/>
            <a:ext cx="457200" cy="480060"/>
          </a:xfrm>
          <a:custGeom>
            <a:avLst/>
            <a:gdLst/>
            <a:ahLst/>
            <a:cxnLst/>
            <a:rect l="l" t="t" r="r" b="b"/>
            <a:pathLst>
              <a:path w="457200" h="480060">
                <a:moveTo>
                  <a:pt x="0" y="228600"/>
                </a:moveTo>
                <a:lnTo>
                  <a:pt x="3472" y="188904"/>
                </a:lnTo>
                <a:lnTo>
                  <a:pt x="13786" y="150414"/>
                </a:lnTo>
                <a:lnTo>
                  <a:pt x="30626" y="114300"/>
                </a:lnTo>
                <a:lnTo>
                  <a:pt x="53482" y="81658"/>
                </a:lnTo>
                <a:lnTo>
                  <a:pt x="81658" y="53482"/>
                </a:lnTo>
                <a:lnTo>
                  <a:pt x="114300" y="30626"/>
                </a:lnTo>
                <a:lnTo>
                  <a:pt x="150414" y="13786"/>
                </a:lnTo>
                <a:lnTo>
                  <a:pt x="188904" y="3472"/>
                </a:lnTo>
                <a:lnTo>
                  <a:pt x="228600" y="0"/>
                </a:lnTo>
                <a:lnTo>
                  <a:pt x="268295" y="3472"/>
                </a:lnTo>
                <a:lnTo>
                  <a:pt x="306785" y="13786"/>
                </a:lnTo>
                <a:lnTo>
                  <a:pt x="342900" y="30626"/>
                </a:lnTo>
                <a:lnTo>
                  <a:pt x="375541" y="53482"/>
                </a:lnTo>
                <a:lnTo>
                  <a:pt x="403717" y="81658"/>
                </a:lnTo>
                <a:lnTo>
                  <a:pt x="426573" y="114300"/>
                </a:lnTo>
                <a:lnTo>
                  <a:pt x="443413" y="150414"/>
                </a:lnTo>
                <a:lnTo>
                  <a:pt x="453727" y="188904"/>
                </a:lnTo>
                <a:lnTo>
                  <a:pt x="457200" y="228600"/>
                </a:lnTo>
                <a:lnTo>
                  <a:pt x="457200" y="480060"/>
                </a:lnTo>
                <a:lnTo>
                  <a:pt x="381000" y="416052"/>
                </a:lnTo>
                <a:lnTo>
                  <a:pt x="304800" y="480060"/>
                </a:lnTo>
                <a:lnTo>
                  <a:pt x="228600" y="416052"/>
                </a:lnTo>
                <a:lnTo>
                  <a:pt x="152400" y="480060"/>
                </a:lnTo>
                <a:lnTo>
                  <a:pt x="76200" y="416052"/>
                </a:lnTo>
                <a:lnTo>
                  <a:pt x="0" y="480060"/>
                </a:lnTo>
                <a:close/>
              </a:path>
            </a:pathLst>
          </a:custGeom>
          <a:solidFill>
            <a:srgbClr val="FF9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68196" y="5050232"/>
            <a:ext cx="100584" cy="128016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13458" y="5088636"/>
            <a:ext cx="45262" cy="57607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14500" y="5050232"/>
            <a:ext cx="100584" cy="128016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759762" y="5088636"/>
            <a:ext cx="45262" cy="57607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103120" y="4892040"/>
            <a:ext cx="457200" cy="480060"/>
          </a:xfrm>
          <a:custGeom>
            <a:avLst/>
            <a:gdLst/>
            <a:ahLst/>
            <a:cxnLst/>
            <a:rect l="l" t="t" r="r" b="b"/>
            <a:pathLst>
              <a:path w="457200" h="480060">
                <a:moveTo>
                  <a:pt x="0" y="228600"/>
                </a:moveTo>
                <a:lnTo>
                  <a:pt x="3472" y="188904"/>
                </a:lnTo>
                <a:lnTo>
                  <a:pt x="13786" y="150414"/>
                </a:lnTo>
                <a:lnTo>
                  <a:pt x="30626" y="114300"/>
                </a:lnTo>
                <a:lnTo>
                  <a:pt x="53482" y="81658"/>
                </a:lnTo>
                <a:lnTo>
                  <a:pt x="81658" y="53482"/>
                </a:lnTo>
                <a:lnTo>
                  <a:pt x="114300" y="30626"/>
                </a:lnTo>
                <a:lnTo>
                  <a:pt x="150414" y="13786"/>
                </a:lnTo>
                <a:lnTo>
                  <a:pt x="188904" y="3472"/>
                </a:lnTo>
                <a:lnTo>
                  <a:pt x="228600" y="0"/>
                </a:lnTo>
                <a:lnTo>
                  <a:pt x="268295" y="3472"/>
                </a:lnTo>
                <a:lnTo>
                  <a:pt x="306785" y="13786"/>
                </a:lnTo>
                <a:lnTo>
                  <a:pt x="342900" y="30626"/>
                </a:lnTo>
                <a:lnTo>
                  <a:pt x="375541" y="53482"/>
                </a:lnTo>
                <a:lnTo>
                  <a:pt x="403717" y="81658"/>
                </a:lnTo>
                <a:lnTo>
                  <a:pt x="426573" y="114300"/>
                </a:lnTo>
                <a:lnTo>
                  <a:pt x="443413" y="150414"/>
                </a:lnTo>
                <a:lnTo>
                  <a:pt x="453727" y="188904"/>
                </a:lnTo>
                <a:lnTo>
                  <a:pt x="457200" y="228600"/>
                </a:lnTo>
                <a:lnTo>
                  <a:pt x="457200" y="480060"/>
                </a:lnTo>
                <a:lnTo>
                  <a:pt x="381000" y="416052"/>
                </a:lnTo>
                <a:lnTo>
                  <a:pt x="304800" y="480060"/>
                </a:lnTo>
                <a:lnTo>
                  <a:pt x="228600" y="416052"/>
                </a:lnTo>
                <a:lnTo>
                  <a:pt x="152400" y="480060"/>
                </a:lnTo>
                <a:lnTo>
                  <a:pt x="76200" y="416052"/>
                </a:lnTo>
                <a:lnTo>
                  <a:pt x="0" y="480060"/>
                </a:lnTo>
                <a:close/>
              </a:path>
            </a:pathLst>
          </a:custGeom>
          <a:solidFill>
            <a:srgbClr val="4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08276" y="5050232"/>
            <a:ext cx="100584" cy="128016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53538" y="5088636"/>
            <a:ext cx="45262" cy="57607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54580" y="5050232"/>
            <a:ext cx="100584" cy="128016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399842" y="5088636"/>
            <a:ext cx="45262" cy="57607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743200" y="4892040"/>
            <a:ext cx="457200" cy="480060"/>
          </a:xfrm>
          <a:custGeom>
            <a:avLst/>
            <a:gdLst/>
            <a:ahLst/>
            <a:cxnLst/>
            <a:rect l="l" t="t" r="r" b="b"/>
            <a:pathLst>
              <a:path w="457200" h="480060">
                <a:moveTo>
                  <a:pt x="0" y="228600"/>
                </a:moveTo>
                <a:lnTo>
                  <a:pt x="3472" y="188904"/>
                </a:lnTo>
                <a:lnTo>
                  <a:pt x="13786" y="150414"/>
                </a:lnTo>
                <a:lnTo>
                  <a:pt x="30626" y="114300"/>
                </a:lnTo>
                <a:lnTo>
                  <a:pt x="53482" y="81658"/>
                </a:lnTo>
                <a:lnTo>
                  <a:pt x="81658" y="53482"/>
                </a:lnTo>
                <a:lnTo>
                  <a:pt x="114300" y="30626"/>
                </a:lnTo>
                <a:lnTo>
                  <a:pt x="150414" y="13786"/>
                </a:lnTo>
                <a:lnTo>
                  <a:pt x="188904" y="3472"/>
                </a:lnTo>
                <a:lnTo>
                  <a:pt x="228600" y="0"/>
                </a:lnTo>
                <a:lnTo>
                  <a:pt x="268295" y="3472"/>
                </a:lnTo>
                <a:lnTo>
                  <a:pt x="306785" y="13786"/>
                </a:lnTo>
                <a:lnTo>
                  <a:pt x="342900" y="30626"/>
                </a:lnTo>
                <a:lnTo>
                  <a:pt x="375541" y="53482"/>
                </a:lnTo>
                <a:lnTo>
                  <a:pt x="403717" y="81658"/>
                </a:lnTo>
                <a:lnTo>
                  <a:pt x="426573" y="114300"/>
                </a:lnTo>
                <a:lnTo>
                  <a:pt x="443413" y="150414"/>
                </a:lnTo>
                <a:lnTo>
                  <a:pt x="453727" y="188904"/>
                </a:lnTo>
                <a:lnTo>
                  <a:pt x="457200" y="228600"/>
                </a:lnTo>
                <a:lnTo>
                  <a:pt x="457200" y="480060"/>
                </a:lnTo>
                <a:lnTo>
                  <a:pt x="381000" y="416052"/>
                </a:lnTo>
                <a:lnTo>
                  <a:pt x="304800" y="480060"/>
                </a:lnTo>
                <a:lnTo>
                  <a:pt x="228600" y="416052"/>
                </a:lnTo>
                <a:lnTo>
                  <a:pt x="152400" y="480060"/>
                </a:lnTo>
                <a:lnTo>
                  <a:pt x="76200" y="416052"/>
                </a:lnTo>
                <a:lnTo>
                  <a:pt x="0" y="480060"/>
                </a:lnTo>
                <a:close/>
              </a:path>
            </a:pathLst>
          </a:cu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848356" y="5050232"/>
            <a:ext cx="100584" cy="128016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93618" y="5088636"/>
            <a:ext cx="45262" cy="57607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94660" y="5050232"/>
            <a:ext cx="100584" cy="128016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039922" y="5088636"/>
            <a:ext cx="45262" cy="57607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29584" y="508406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822192" y="508406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114800" y="508406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407408" y="508406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00016" y="508406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92624" y="508406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85232" y="508406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7840" y="508406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D23F"/>
                </a:solidFill>
                <a:latin typeface="Montserrat"/>
              </a:rPr>
              <a:t>LES QUATRE JOUEURS · QUATRE STRATÉGIES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5F8"/>
                </a:solidFill>
                <a:latin typeface="Montserrat"/>
              </a:rPr>
              <a:t>De la plus bête à la plus forte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2468880" cy="3063240"/>
          </a:xfrm>
          <a:prstGeom prst="roundRect">
            <a:avLst>
              <a:gd name="adj" fmla="val 5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468880"/>
            <a:ext cx="457200" cy="457200"/>
          </a:xfrm>
          <a:prstGeom prst="ellipse">
            <a:avLst/>
          </a:pr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2496312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4F5F8"/>
                </a:solidFill>
                <a:latin typeface="Montserrat"/>
              </a:rPr>
              <a:t>Aléatoire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50">
                <a:solidFill>
                  <a:srgbClr val="FF4F5E"/>
                </a:solidFill>
                <a:latin typeface="Montserrat"/>
              </a:rPr>
              <a:t>LE PLANCHER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19202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Une direction au hasard à chaque croisement. Tout ce qui fait moins est cassé.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2148840"/>
            <a:ext cx="2468880" cy="3063240"/>
          </a:xfrm>
          <a:prstGeom prst="roundRect">
            <a:avLst>
              <a:gd name="adj" fmla="val 5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13048" y="2468880"/>
            <a:ext cx="457200" cy="457200"/>
          </a:xfrm>
          <a:prstGeom prst="ellipse">
            <a:avLst/>
          </a:prstGeom>
          <a:solidFill>
            <a:srgbClr val="FF9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2496312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4F5F8"/>
                </a:solidFill>
                <a:latin typeface="Montserrat"/>
              </a:rPr>
              <a:t>Heuristique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32004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50">
                <a:solidFill>
                  <a:srgbClr val="FF9AD5"/>
                </a:solidFill>
                <a:latin typeface="Montserrat"/>
              </a:rPr>
              <a:t>RÈGLES À LA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3611880"/>
            <a:ext cx="19202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Chasseur proche → fuir. Fantôme effrayé → le chasser. Sinon → la pastille la plus proche.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2148840"/>
            <a:ext cx="2468880" cy="3063240"/>
          </a:xfrm>
          <a:prstGeom prst="roundRect">
            <a:avLst>
              <a:gd name="adj" fmla="val 5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28816" y="2468880"/>
            <a:ext cx="457200" cy="45720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8896" y="2496312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4F5F8"/>
                </a:solidFill>
                <a:latin typeface="Montserrat"/>
              </a:rPr>
              <a:t>Q-learning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2004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50">
                <a:solidFill>
                  <a:srgbClr val="FFD23F"/>
                </a:solidFill>
                <a:latin typeface="Montserrat"/>
              </a:rPr>
              <a:t>IL APPREND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3611880"/>
            <a:ext cx="19202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Regarde 12 indicateurs et apprend, en 3 000 parties, combien chacun compte. Personne ne lui dit les règles.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0264" y="2148840"/>
            <a:ext cx="2468880" cy="3063240"/>
          </a:xfrm>
          <a:prstGeom prst="roundRect">
            <a:avLst>
              <a:gd name="adj" fmla="val 5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44584" y="2468880"/>
            <a:ext cx="457200" cy="457200"/>
          </a:xfrm>
          <a:prstGeom prst="ellipse">
            <a:avLst/>
          </a:prstGeom>
          <a:solidFill>
            <a:srgbClr val="4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4664" y="2496312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4F5F8"/>
                </a:solidFill>
                <a:latin typeface="Montserrat"/>
              </a:rPr>
              <a:t>Recherche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320040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50">
                <a:solidFill>
                  <a:srgbClr val="4FE3F0"/>
                </a:solidFill>
                <a:latin typeface="Montserrat"/>
              </a:rPr>
              <a:t>IL SIMULE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3611880"/>
            <a:ext cx="19202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Clone la partie, essaie chaque direction 3 coups à l'avance, garde la meilleure. Zéro apprentissage.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532120"/>
            <a:ext cx="10515600" cy="19050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6052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MOINS FORT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1135" y="560527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spc="200">
                <a:solidFill>
                  <a:srgbClr val="FFD23F"/>
                </a:solidFill>
                <a:latin typeface="Montserrat"/>
              </a:rPr>
              <a:t>PLUS FORT 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D23F"/>
                </a:solidFill>
                <a:latin typeface="Montserrat"/>
              </a:rPr>
              <a:t>L'AGENT QUI APPREND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4F5F8"/>
                </a:solidFill>
                <a:latin typeface="Montserrat"/>
              </a:rPr>
              <a:t>Douze indicateurs, douze poids, un barème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4F5F8"/>
                </a:solidFill>
                <a:latin typeface="Montserrat"/>
              </a:rPr>
              <a:t>Q(s, a) = </a:t>
            </a:r>
            <a:r>
              <a:rPr sz="3400" b="1">
                <a:solidFill>
                  <a:srgbClr val="FFD23F"/>
                </a:solidFill>
                <a:latin typeface="Montserrat"/>
              </a:rPr>
              <a:t>w · f(s, 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1B4"/>
                </a:solidFill>
                <a:latin typeface="Open Sans"/>
              </a:rPr>
              <a:t>La valeur d'un coup, c'est la somme des indicateurs pondérés. Après 3 000 parties (≈ 8 min), on lit les poids.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2900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7556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4F5F8"/>
                </a:solidFill>
                <a:latin typeface="Open Sans"/>
              </a:rPr>
              <a:t>pastille sur la 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8336" y="3429000"/>
            <a:ext cx="1289304" cy="384048"/>
          </a:xfrm>
          <a:prstGeom prst="roundRect">
            <a:avLst>
              <a:gd name="adj" fmla="val 50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3429000"/>
            <a:ext cx="12893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4F5F8"/>
                </a:solidFill>
                <a:latin typeface="Open Sans"/>
              </a:rPr>
              <a:t>super-pastille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87368" y="3429000"/>
            <a:ext cx="589788" cy="384048"/>
          </a:xfrm>
          <a:prstGeom prst="roundRect">
            <a:avLst>
              <a:gd name="adj" fmla="val 50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3429000"/>
            <a:ext cx="5897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4F5F8"/>
                </a:solidFill>
                <a:latin typeface="Open Sans"/>
              </a:rPr>
              <a:t>fruit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86884" y="3429000"/>
            <a:ext cx="1522476" cy="384048"/>
          </a:xfrm>
          <a:prstGeom prst="roundRect">
            <a:avLst>
              <a:gd name="adj" fmla="val 50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6884" y="3429000"/>
            <a:ext cx="15224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4F5F8"/>
                </a:solidFill>
                <a:latin typeface="Open Sans"/>
              </a:rPr>
              <a:t>distance pastille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22776"/>
            <a:ext cx="1988820" cy="384048"/>
          </a:xfrm>
          <a:prstGeom prst="roundRect">
            <a:avLst>
              <a:gd name="adj" fmla="val 50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22776"/>
            <a:ext cx="19888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4F5F8"/>
                </a:solidFill>
                <a:latin typeface="Open Sans"/>
              </a:rPr>
              <a:t>distance super-pastille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1508" y="3922776"/>
            <a:ext cx="1522476" cy="384048"/>
          </a:xfrm>
          <a:prstGeom prst="roundRect">
            <a:avLst>
              <a:gd name="adj" fmla="val 50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1508" y="3922776"/>
            <a:ext cx="15224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4F5F8"/>
                </a:solidFill>
                <a:latin typeface="Open Sans"/>
              </a:rPr>
              <a:t>distance chasseur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3922776"/>
            <a:ext cx="1833372" cy="384048"/>
          </a:xfrm>
          <a:prstGeom prst="roundRect">
            <a:avLst>
              <a:gd name="adj" fmla="val 50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922776"/>
            <a:ext cx="18333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4F5F8"/>
                </a:solidFill>
                <a:latin typeface="Open Sans"/>
              </a:rPr>
              <a:t>chasseurs à &lt; 3 cases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16552"/>
            <a:ext cx="1988820" cy="384048"/>
          </a:xfrm>
          <a:prstGeom prst="roundRect">
            <a:avLst>
              <a:gd name="adj" fmla="val 50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16552"/>
            <a:ext cx="19888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4F5F8"/>
                </a:solidFill>
                <a:latin typeface="Open Sans"/>
              </a:rPr>
              <a:t>proie effrayée à portée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1508" y="4416552"/>
            <a:ext cx="1522476" cy="384048"/>
          </a:xfrm>
          <a:prstGeom prst="roundRect">
            <a:avLst>
              <a:gd name="adj" fmla="val 50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1508" y="4416552"/>
            <a:ext cx="15224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4F5F8"/>
                </a:solidFill>
                <a:latin typeface="Open Sans"/>
              </a:rPr>
              <a:t>nombre de sorties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3712" y="4416552"/>
            <a:ext cx="900684" cy="384048"/>
          </a:xfrm>
          <a:prstGeom prst="roundRect">
            <a:avLst>
              <a:gd name="adj" fmla="val 50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416552"/>
            <a:ext cx="9006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4F5F8"/>
                </a:solidFill>
                <a:latin typeface="Open Sans"/>
              </a:rPr>
              <a:t>demi-tour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64124" y="4416552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64124" y="4416552"/>
            <a:ext cx="9784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4F5F8"/>
                </a:solidFill>
                <a:latin typeface="Open Sans"/>
              </a:rPr>
              <a:t>avancement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2260" y="4416552"/>
            <a:ext cx="589788" cy="384048"/>
          </a:xfrm>
          <a:prstGeom prst="roundRect">
            <a:avLst>
              <a:gd name="adj" fmla="val 50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2260" y="4416552"/>
            <a:ext cx="5897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4F5F8"/>
                </a:solidFill>
                <a:latin typeface="Open Sans"/>
              </a:rPr>
              <a:t>biais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2011680"/>
            <a:ext cx="3611880" cy="3657600"/>
          </a:xfrm>
          <a:prstGeom prst="roundRect">
            <a:avLst>
              <a:gd name="adj" fmla="val 4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228600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200">
                <a:solidFill>
                  <a:srgbClr val="FFD23F"/>
                </a:solidFill>
                <a:latin typeface="Montserrat"/>
              </a:rPr>
              <a:t>LE BARÈME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274320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F4F5F8"/>
                </a:solidFill>
                <a:latin typeface="Open Sans"/>
              </a:rPr>
              <a:t>Pastille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74320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5CE29A"/>
                </a:solidFill>
                <a:latin typeface="Montserrat"/>
              </a:rPr>
              <a:t>+10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3163824"/>
            <a:ext cx="297180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320040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F4F5F8"/>
                </a:solidFill>
                <a:latin typeface="Open Sans"/>
              </a:rPr>
              <a:t>Super-pastille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20040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5CE29A"/>
                </a:solidFill>
                <a:latin typeface="Montserrat"/>
              </a:rPr>
              <a:t>+50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3621024"/>
            <a:ext cx="297180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365760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F4F5F8"/>
                </a:solidFill>
                <a:latin typeface="Open Sans"/>
              </a:rPr>
              <a:t>Fantôme mangé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65760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5CE29A"/>
                </a:solidFill>
                <a:latin typeface="Montserrat"/>
              </a:rPr>
              <a:t>+200 → 1600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4078224"/>
            <a:ext cx="297180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411480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F4F5F8"/>
                </a:solidFill>
                <a:latin typeface="Open Sans"/>
              </a:rPr>
              <a:t>Niveau terminé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411480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5CE29A"/>
                </a:solidFill>
                <a:latin typeface="Montserrat"/>
              </a:rPr>
              <a:t>+500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4535424"/>
            <a:ext cx="297180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2440" y="457200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F4F5F8"/>
                </a:solidFill>
                <a:latin typeface="Open Sans"/>
              </a:rPr>
              <a:t>Mort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57200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FF4F5E"/>
                </a:solidFill>
                <a:latin typeface="Montserrat"/>
              </a:rPr>
              <a:t>−500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2440" y="4992624"/>
            <a:ext cx="297180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2440" y="502920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F4F5F8"/>
                </a:solidFill>
                <a:latin typeface="Open Sans"/>
              </a:rPr>
              <a:t>Chaque décision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502920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>
                <a:solidFill>
                  <a:srgbClr val="FF4F5E"/>
                </a:solidFill>
                <a:latin typeface="Montserrat"/>
              </a:rPr>
              <a:t>−1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D23F"/>
                </a:solidFill>
                <a:latin typeface="Montserrat"/>
              </a:rPr>
              <a:t>RÉSULTATS · QUATRE FANTÔMES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5F8"/>
                </a:solidFill>
                <a:latin typeface="Montserrat"/>
              </a:rPr>
              <a:t>100 parties chacun, jamais vues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F5F8"/>
                </a:solidFill>
                <a:latin typeface="Montserrat"/>
              </a:rPr>
              <a:t>Aléatoire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1B4"/>
                </a:solidFill>
                <a:latin typeface="Open Sans"/>
              </a:rPr>
              <a:t>0 % de victoires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258568"/>
            <a:ext cx="6035040" cy="457200"/>
          </a:xfrm>
          <a:prstGeom prst="roundRect">
            <a:avLst>
              <a:gd name="adj" fmla="val 30000"/>
            </a:avLst>
          </a:prstGeom>
          <a:solidFill>
            <a:srgbClr val="12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2258568"/>
            <a:ext cx="568430" cy="457200"/>
          </a:xfrm>
          <a:prstGeom prst="roundRect">
            <a:avLst>
              <a:gd name="adj" fmla="val 30000"/>
            </a:avLst>
          </a:pr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8790" y="2258568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F5F8"/>
                </a:solidFill>
                <a:latin typeface="Montserrat"/>
              </a:rPr>
              <a:t>470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36392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F5F8"/>
                </a:solidFill>
                <a:latin typeface="Montserrat"/>
              </a:rPr>
              <a:t>Heuristique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381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1B4"/>
                </a:solidFill>
                <a:latin typeface="Open Sans"/>
              </a:rPr>
              <a:t>0 % de victoires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154680"/>
            <a:ext cx="6035040" cy="457200"/>
          </a:xfrm>
          <a:prstGeom prst="roundRect">
            <a:avLst>
              <a:gd name="adj" fmla="val 30000"/>
            </a:avLst>
          </a:prstGeom>
          <a:solidFill>
            <a:srgbClr val="12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0" y="3154680"/>
            <a:ext cx="2830058" cy="457200"/>
          </a:xfrm>
          <a:prstGeom prst="roundRect">
            <a:avLst>
              <a:gd name="adj" fmla="val 30000"/>
            </a:avLst>
          </a:prstGeom>
          <a:solidFill>
            <a:srgbClr val="FF9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0418" y="315468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F5F8"/>
                </a:solidFill>
                <a:latin typeface="Montserrat"/>
              </a:rPr>
              <a:t>2 340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32504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F5F8"/>
                </a:solidFill>
                <a:latin typeface="Montserrat"/>
              </a:rPr>
              <a:t>Q-learning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3425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1B4"/>
                </a:solidFill>
                <a:latin typeface="Open Sans"/>
              </a:rPr>
              <a:t>4 % de victoires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050792"/>
            <a:ext cx="6035040" cy="457200"/>
          </a:xfrm>
          <a:prstGeom prst="roundRect">
            <a:avLst>
              <a:gd name="adj" fmla="val 30000"/>
            </a:avLst>
          </a:prstGeom>
          <a:solidFill>
            <a:srgbClr val="12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43200" y="4050792"/>
            <a:ext cx="3501290" cy="457200"/>
          </a:xfrm>
          <a:prstGeom prst="roundRect">
            <a:avLst>
              <a:gd name="adj" fmla="val 3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1650" y="4050792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F5F8"/>
                </a:solidFill>
                <a:latin typeface="Montserrat"/>
              </a:rPr>
              <a:t>2 895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28616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F5F8"/>
                </a:solidFill>
                <a:latin typeface="Montserrat"/>
              </a:rPr>
              <a:t>Recherche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303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1B4"/>
                </a:solidFill>
                <a:latin typeface="Open Sans"/>
              </a:rPr>
              <a:t>94 % de victoires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946904"/>
            <a:ext cx="6035040" cy="457200"/>
          </a:xfrm>
          <a:prstGeom prst="roundRect">
            <a:avLst>
              <a:gd name="adj" fmla="val 30000"/>
            </a:avLst>
          </a:prstGeom>
          <a:solidFill>
            <a:srgbClr val="12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43200" y="4946904"/>
            <a:ext cx="6035040" cy="457200"/>
          </a:xfrm>
          <a:prstGeom prst="roundRect">
            <a:avLst>
              <a:gd name="adj" fmla="val 30000"/>
            </a:avLst>
          </a:prstGeom>
          <a:solidFill>
            <a:srgbClr val="4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494690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F5F8"/>
                </a:solidFill>
                <a:latin typeface="Montserrat"/>
              </a:rPr>
              <a:t>4 990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8064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SCORE MÉDIAN SUR 100 PARTIES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103120"/>
            <a:ext cx="2331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spc="-200">
                <a:solidFill>
                  <a:srgbClr val="4FE3F0"/>
                </a:solidFill>
                <a:latin typeface="Montserrat"/>
              </a:rPr>
              <a:t>94 %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06324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1B4"/>
                </a:solidFill>
                <a:latin typeface="Open Sans"/>
              </a:rPr>
              <a:t>de victoires pour la recherche : elle voit l'avenir.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3840480"/>
            <a:ext cx="233172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4023360"/>
            <a:ext cx="2331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4F5F8"/>
                </a:solidFill>
                <a:latin typeface="Open Sans"/>
              </a:rPr>
              <a:t>L'agent appris bat mes règles </a:t>
            </a:r>
            <a:r>
              <a:rPr sz="1200" b="0">
                <a:solidFill>
                  <a:srgbClr val="9AA1B4"/>
                </a:solidFill>
                <a:latin typeface="Open Sans"/>
              </a:rPr>
              <a:t>(2 895 contre 2 340) sans qu'on lui ait rien dit. Mais il gagne rarement : douze poids ne planifient pas une fin de niveau.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D23F"/>
                </a:solidFill>
                <a:latin typeface="Montserrat"/>
              </a:rPr>
              <a:t>DANS LE JEU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4F5F8"/>
                </a:solidFill>
                <a:latin typeface="Montserrat"/>
              </a:rPr>
              <a:t>On regarde l'agent appris jouer, en direct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29968"/>
            <a:ext cx="3370786" cy="3895343"/>
          </a:xfrm>
          <a:prstGeom prst="roundRect">
            <a:avLst>
              <a:gd name="adj" fmla="val 3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rop_ia_appris_en_c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3224482" cy="37490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96082" y="2103120"/>
            <a:ext cx="677265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D23F"/>
                </a:solidFill>
                <a:latin typeface="Montserrat"/>
              </a:rPr>
              <a:t>/?ia=appris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6082" y="2752344"/>
            <a:ext cx="45720" cy="77724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0402" y="2697480"/>
            <a:ext cx="649833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5F8"/>
                </a:solidFill>
                <a:latin typeface="Montserrat"/>
              </a:rPr>
              <a:t>Le modèle final au volant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1B4"/>
                </a:solidFill>
                <a:latin typeface="Open Sans"/>
              </a:rPr>
              <a:t>Le serveur décide à chaque croisement avec les douze poids appris ; je ne touche à rien.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6082" y="3758184"/>
            <a:ext cx="45720" cy="914400"/>
          </a:xfrm>
          <a:prstGeom prst="rect">
            <a:avLst/>
          </a:prstGeom>
          <a:solidFill>
            <a:srgbClr val="4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0402" y="3703320"/>
            <a:ext cx="649833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5F8"/>
                </a:solidFill>
                <a:latin typeface="Montserrat"/>
              </a:rPr>
              <a:t>On le voit hésiter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1B4"/>
                </a:solidFill>
                <a:latin typeface="Open Sans"/>
              </a:rPr>
              <a:t>Aux intersections, l'agent compare les directions ; parfois il revient sur ses pas. C'est le −1 par décision qui le pousse à avancer.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6082" y="4901184"/>
            <a:ext cx="45720" cy="777240"/>
          </a:xfrm>
          <a:prstGeom prst="rect">
            <a:avLst/>
          </a:prstGeom>
          <a:solidFill>
            <a:srgbClr val="FF9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0402" y="4846320"/>
            <a:ext cx="6498333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5F8"/>
                </a:solidFill>
                <a:latin typeface="Montserrat"/>
              </a:rPr>
              <a:t>Les mêmes règles pour tous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1B4"/>
                </a:solidFill>
                <a:latin typeface="Open Sans"/>
              </a:rPr>
              <a:t>Remplacer appris par recherche, heuristique ou aleatoire dans l'adresse suffit pour comparer à l'œil.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D23F"/>
                </a:solidFill>
                <a:latin typeface="Montserrat"/>
              </a:rPr>
              <a:t>SOUS LE CAPOT · POIDS PAR POIDS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5F8"/>
                </a:solidFill>
                <a:latin typeface="Montserrat"/>
              </a:rPr>
              <a:t>Chaque décision peut s'ouvrir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29968"/>
            <a:ext cx="6729984" cy="3419333"/>
          </a:xfrm>
          <a:prstGeom prst="roundRect">
            <a:avLst>
              <a:gd name="adj" fmla="val 3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rop_decisions_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6583680" cy="327302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63840" y="2157984"/>
            <a:ext cx="45720" cy="91440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103120"/>
            <a:ext cx="32305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5F8"/>
                </a:solidFill>
                <a:latin typeface="Montserrat"/>
              </a:rPr>
              <a:t>docs/decisions.html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1B4"/>
                </a:solidFill>
                <a:latin typeface="Open Sans"/>
              </a:rPr>
              <a:t>Une partie de l'IA rejouée coup par coup, sur une graine jamais vue à l'entraînement.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300984"/>
            <a:ext cx="45720" cy="914400"/>
          </a:xfrm>
          <a:prstGeom prst="rect">
            <a:avLst/>
          </a:prstGeom>
          <a:solidFill>
            <a:srgbClr val="5CE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246120"/>
            <a:ext cx="32305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5F8"/>
                </a:solidFill>
                <a:latin typeface="Montserrat"/>
              </a:rPr>
              <a:t>Vert pousse, rouge retient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1B4"/>
                </a:solidFill>
                <a:latin typeface="Open Sans"/>
              </a:rPr>
              <a:t>À chaque intersection : la valeur de chaque direction, décomposée en poids × descripteur.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4443984"/>
            <a:ext cx="45720" cy="822960"/>
          </a:xfrm>
          <a:prstGeom prst="rect">
            <a:avLst/>
          </a:prstGeom>
          <a:solidFill>
            <a:srgbClr val="4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389120"/>
            <a:ext cx="32305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4F5F8"/>
                </a:solidFill>
                <a:latin typeface="Montserrat"/>
              </a:rPr>
              <a:t>Ce que douze poids ont acheté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1B4"/>
                </a:solidFill>
                <a:latin typeface="Open Sans"/>
              </a:rPr>
              <a:t>Un réseau de neurones n'aurait jamais permis de montrer 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4F5E"/>
                </a:solidFill>
                <a:latin typeface="Montserrat"/>
              </a:rPr>
              <a:t>PROBLÈME N°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4F5F8"/>
                </a:solidFill>
                <a:latin typeface="Montserrat"/>
              </a:rPr>
              <a:t>Décider à chaque pas, c'est décider 2 500 fois pour rien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926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spc="-400">
                <a:solidFill>
                  <a:srgbClr val="FFD23F"/>
                </a:solidFill>
                <a:latin typeface="Montserrat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vrais points de décision, sur 300 cases praticables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494690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494690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494690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27048" y="494690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73936" y="494690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20824" y="494690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67712" y="494690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14600" y="494690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61488" y="494690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08376" y="494690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55264" y="494690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02152" y="4946904"/>
            <a:ext cx="73152" cy="73152"/>
          </a:xfrm>
          <a:prstGeom prst="ellipse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952" y="4919472"/>
            <a:ext cx="128016" cy="128016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40280" y="4919472"/>
            <a:ext cx="128016" cy="128016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21608" y="4919472"/>
            <a:ext cx="128016" cy="128016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2340864"/>
            <a:ext cx="45720" cy="1005840"/>
          </a:xfrm>
          <a:prstGeom prst="rect">
            <a:avLst/>
          </a:pr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2286000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F5F8"/>
                </a:solidFill>
                <a:latin typeface="Montserrat"/>
              </a:rPr>
              <a:t>Le constat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9AA1B4"/>
                </a:solidFill>
                <a:latin typeface="Open Sans"/>
              </a:rPr>
              <a:t>89 % du labyrinthe est un couloir où la direction est imposée. Décider à chaque tick, c'est 2 440 décisions sans conséquence par partie, et apprendre sur ce bruit.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575304"/>
            <a:ext cx="45720" cy="73152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52044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F5F8"/>
                </a:solidFill>
                <a:latin typeface="Montserrat"/>
              </a:rPr>
              <a:t>La solution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9AA1B4"/>
                </a:solidFill>
                <a:latin typeface="Open Sans"/>
              </a:rPr>
              <a:t>L'environnement traverse les couloirs tout seul et ne rend la main qu'aux intersections.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4581144"/>
            <a:ext cx="45720" cy="1005840"/>
          </a:xfrm>
          <a:prstGeom prst="rect">
            <a:avLst/>
          </a:prstGeom>
          <a:solidFill>
            <a:srgbClr val="5CE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4526280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F5F8"/>
                </a:solidFill>
                <a:latin typeface="Montserrat"/>
              </a:rPr>
              <a:t>Le résultat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9AA1B4"/>
                </a:solidFill>
                <a:latin typeface="Open Sans"/>
              </a:rPr>
              <a:t>Une partie passe de ~2 500 pas à ~100 décisions : 25 fois plus court, sans rien perdre du jeu. C'est ce qui rend l'apprentissage possible en minutes.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4F5E"/>
                </a:solidFill>
                <a:latin typeface="Montserrat"/>
              </a:rPr>
              <a:t>PROBLÈME N°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4F5F8"/>
                </a:solidFill>
                <a:latin typeface="Montserrat"/>
              </a:rPr>
              <a:t>L'agent apprenait par cœur, pas à jouer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AA1B4"/>
                </a:solidFill>
                <a:latin typeface="Open Sans"/>
              </a:rPr>
              <a:t>Le moteur est parfaitement reproductible, indispensable pour tester. Mais si chaque partie démarre pareil, l'agent mémorise une suite de coups, pas une stratégie : score flatteur à l'entraînement, effondrement dès que ça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17520"/>
            <a:ext cx="3337560" cy="2834640"/>
          </a:xfrm>
          <a:prstGeom prst="roundRect">
            <a:avLst>
              <a:gd name="adj" fmla="val 5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3337560" cy="54864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37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D23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8620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F5F8"/>
                </a:solidFill>
                <a:latin typeface="Montserrat"/>
              </a:rPr>
              <a:t>Une graine par partie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663440"/>
            <a:ext cx="26974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B4"/>
                </a:solidFill>
                <a:latin typeface="Open Sans"/>
              </a:rPr>
              <a:t>Le départ de Pac-Man et l'errance des fantômes changent à chaque épisode.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3017520"/>
            <a:ext cx="3337560" cy="2834640"/>
          </a:xfrm>
          <a:prstGeom prst="roundRect">
            <a:avLst>
              <a:gd name="adj" fmla="val 5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3017520"/>
            <a:ext cx="3337560" cy="54864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3337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D23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88620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F5F8"/>
                </a:solidFill>
                <a:latin typeface="Montserrat"/>
              </a:rPr>
              <a:t>Des graines jamais vues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663440"/>
            <a:ext cx="26974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B4"/>
                </a:solidFill>
                <a:latin typeface="Open Sans"/>
              </a:rPr>
              <a:t>Le code refuse d'évaluer sur une graine d'entraînement. Une garde, pas une convention.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3017520"/>
            <a:ext cx="3337560" cy="2834640"/>
          </a:xfrm>
          <a:prstGeom prst="roundRect">
            <a:avLst>
              <a:gd name="adj" fmla="val 5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3017520"/>
            <a:ext cx="3337560" cy="54864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333756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D23F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88620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F5F8"/>
                </a:solidFill>
                <a:latin typeface="Montserrat"/>
              </a:rPr>
              <a:t>La médiane, pas le meilleur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4663440"/>
            <a:ext cx="26974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1B4"/>
                </a:solidFill>
                <a:latin typeface="Open Sans"/>
              </a:rPr>
              <a:t>100 parties, médiane et écart-type. Un bon score isolé ne prouve rien.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4F5E"/>
                </a:solidFill>
                <a:latin typeface="Montserrat"/>
              </a:rPr>
              <a:t>PROBLÈME N°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4F5F8"/>
                </a:solidFill>
                <a:latin typeface="Montserrat"/>
              </a:rPr>
              <a:t>Deux chiffres du barème comptaient plus que tout l'algorithme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5120640" cy="3291840"/>
          </a:xfrm>
          <a:prstGeom prst="roundRect">
            <a:avLst>
              <a:gd name="adj" fmla="val 4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spc="-200">
                <a:solidFill>
                  <a:srgbClr val="FF4F5E"/>
                </a:solidFill>
                <a:latin typeface="Montserrat"/>
              </a:rPr>
              <a:t>−500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033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4F5F8"/>
                </a:solidFill>
                <a:latin typeface="Montserrat"/>
              </a:rPr>
              <a:t>L'agent se suicidait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1B4"/>
                </a:solidFill>
                <a:latin typeface="Open Sans"/>
              </a:rPr>
              <a:t>Sans pénalité de mort assez lourde, mourir vite était la meilleure façon d'arrêter de perdre des 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0292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4F5E"/>
                </a:solidFill>
                <a:latin typeface="Montserrat"/>
              </a:rPr>
              <a:t>→  </a:t>
            </a:r>
            <a:r>
              <a:rPr sz="1300" b="1">
                <a:solidFill>
                  <a:srgbClr val="F4F5F8"/>
                </a:solidFill>
                <a:latin typeface="Montserrat"/>
              </a:rPr>
              <a:t>La mort domine tout le reste.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31720"/>
            <a:ext cx="5120640" cy="3291840"/>
          </a:xfrm>
          <a:prstGeom prst="roundRect">
            <a:avLst>
              <a:gd name="adj" fmla="val 4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spc="-200">
                <a:solidFill>
                  <a:srgbClr val="4FE3F0"/>
                </a:solidFill>
                <a:latin typeface="Montserrat"/>
              </a:rPr>
              <a:t>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033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4F5F8"/>
                </a:solidFill>
                <a:latin typeface="Montserrat"/>
              </a:rPr>
              <a:t>L'agent tournait en rond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60520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1B4"/>
                </a:solidFill>
                <a:latin typeface="Open Sans"/>
              </a:rPr>
              <a:t>Devant une super-pastille, il faisait des allers-retours sans la manger : rien ne le pressait.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0292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E3F0"/>
                </a:solidFill>
                <a:latin typeface="Montserrat"/>
              </a:rPr>
              <a:t>→  </a:t>
            </a:r>
            <a:r>
              <a:rPr sz="1300" b="1">
                <a:solidFill>
                  <a:srgbClr val="F4F5F8"/>
                </a:solidFill>
                <a:latin typeface="Montserrat"/>
              </a:rPr>
              <a:t>Chaque décision coûte. Il avance.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B347"/>
                </a:solidFill>
                <a:latin typeface="Montserrat"/>
              </a:rPr>
              <a:t>CE QUI N'A PAS MARCHÉ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4F5F8"/>
                </a:solidFill>
                <a:latin typeface="Montserrat"/>
              </a:rPr>
              <a:t>Trois résultats négatifs, publiés tels quels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7560" cy="3566160"/>
          </a:xfrm>
          <a:prstGeom prst="roundRect">
            <a:avLst>
              <a:gd name="adj" fmla="val 5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3337560" cy="54864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B347"/>
                </a:solidFill>
                <a:latin typeface="Montserrat"/>
              </a:rPr>
              <a:t>−18 %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1752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F5F8"/>
                </a:solidFill>
                <a:latin typeface="Montserrat"/>
              </a:rPr>
              <a:t>La position de chaque fantôme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794760"/>
            <a:ext cx="26974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B4"/>
                </a:solidFill>
                <a:latin typeface="Open Sans"/>
              </a:rPr>
              <a:t>Donner à l'agent les positions exactes le rend moins bon : 2 390 contre 2 900. Deux fois plus de poids sur le même budget, et un modèle linéaire additionne, il ne croise pas.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148840"/>
            <a:ext cx="3337560" cy="3566160"/>
          </a:xfrm>
          <a:prstGeom prst="roundRect">
            <a:avLst>
              <a:gd name="adj" fmla="val 5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2148840"/>
            <a:ext cx="3337560" cy="54864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6888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B347"/>
                </a:solidFill>
                <a:latin typeface="Montserrat"/>
              </a:rPr>
              <a:t>+0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01752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F5F8"/>
                </a:solidFill>
                <a:latin typeface="Montserrat"/>
              </a:rPr>
              <a:t>L'entraînement progressif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794760"/>
            <a:ext cx="26974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B4"/>
                </a:solidFill>
                <a:latin typeface="Open Sans"/>
              </a:rPr>
              <a:t>Un fantôme puis quatre : 2 895 avec, 2 915 sans. Bonne idée sur le papier, aucun gain mesuré.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2148840"/>
            <a:ext cx="3337560" cy="3566160"/>
          </a:xfrm>
          <a:prstGeom prst="roundRect">
            <a:avLst>
              <a:gd name="adj" fmla="val 5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2148840"/>
            <a:ext cx="3337560" cy="54864"/>
          </a:xfrm>
          <a:prstGeom prst="rect">
            <a:avLst/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468880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B347"/>
                </a:solidFill>
                <a:latin typeface="Montserrat"/>
              </a:rPr>
              <a:t>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01752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4F5F8"/>
                </a:solidFill>
                <a:latin typeface="Montserrat"/>
              </a:rPr>
              <a:t>Un test vert qui ne testait rien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794760"/>
            <a:ext cx="26974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1B4"/>
                </a:solidFill>
                <a:latin typeface="Open Sans"/>
              </a:rPr>
              <a:t>« L'agent ressort d'un cul-de-sac » passait toujours… le labyrinthe n'en a aucun. Il itérait sur une liste vide. Un test qui rassure sans prouver est pire qu'un test absent.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D23F"/>
                </a:solidFill>
                <a:latin typeface="Montserrat"/>
              </a:rPr>
              <a:t>LA VRAIE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5F8"/>
                </a:solidFill>
                <a:latin typeface="Montserrat"/>
              </a:rPr>
              <a:t>Apprendre, ou recalculer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00">
                <a:solidFill>
                  <a:srgbClr val="FFD23F"/>
                </a:solidFill>
                <a:latin typeface="Montserrat"/>
              </a:rPr>
              <a:t>Q-LEARNING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148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00">
                <a:solidFill>
                  <a:srgbClr val="4FE3F0"/>
                </a:solidFill>
                <a:latin typeface="Montserrat"/>
              </a:rPr>
              <a:t>RECHERCHE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78608"/>
            <a:ext cx="777240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A4052"/>
                </a:solidFill>
                <a:latin typeface="Montserrat"/>
              </a:rPr>
              <a:t>Avant de jouer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51760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4F5F8"/>
                </a:solidFill>
                <a:latin typeface="Open Sans"/>
              </a:rPr>
              <a:t>3 000 parties, ~8 min avant de jouer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651760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4F5F8"/>
                </a:solidFill>
                <a:latin typeface="Open Sans"/>
              </a:rPr>
              <a:t>Zéro coût avant de jouer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91840"/>
            <a:ext cx="777240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64992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A4052"/>
                </a:solidFill>
                <a:latin typeface="Montserrat"/>
              </a:rPr>
              <a:t>Pendant le jeu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64992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4F5F8"/>
                </a:solidFill>
                <a:latin typeface="Open Sans"/>
              </a:rPr>
              <a:t>12 multiplications par coup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364992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4F5F8"/>
                </a:solidFill>
                <a:latin typeface="Open Sans"/>
              </a:rPr>
              <a:t>Des dizaines de parties simulées par coup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05072"/>
            <a:ext cx="777240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78224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A4052"/>
                </a:solidFill>
                <a:latin typeface="Montserrat"/>
              </a:rPr>
              <a:t>Après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078224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4F5F8"/>
                </a:solidFill>
                <a:latin typeface="Open Sans"/>
              </a:rPr>
              <a:t>Il reste 12 nombres lisibles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078224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4F5F8"/>
                </a:solidFill>
                <a:latin typeface="Open Sans"/>
              </a:rPr>
              <a:t>Il ne reste rien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718304"/>
            <a:ext cx="777240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791456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A4052"/>
                </a:solidFill>
                <a:latin typeface="Montserrat"/>
              </a:rPr>
              <a:t>Sans simulateur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791456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D23F"/>
                </a:solidFill>
                <a:latin typeface="Open Sans"/>
              </a:rPr>
              <a:t>Fonctionne sans simulateur exact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791456"/>
            <a:ext cx="2743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E3F0"/>
                </a:solidFill>
                <a:latin typeface="Open Sans"/>
              </a:rPr>
              <a:t>S'effondre sans simulateur exact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2148840"/>
            <a:ext cx="45720" cy="338328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14884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200">
                <a:solidFill>
                  <a:srgbClr val="FFD23F"/>
                </a:solidFill>
                <a:latin typeface="Montserrat"/>
              </a:rPr>
              <a:t>LA LEÇON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514600"/>
            <a:ext cx="26060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4F5F8"/>
                </a:solidFill>
                <a:latin typeface="Montserrat"/>
              </a:rPr>
              <a:t>La recherche gagne ici parce qu'elle a un simulateur exact et gratuit.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9AA1B4"/>
                </a:solidFill>
                <a:latin typeface="Open Sans"/>
              </a:rPr>
              <a:t>Un robot, un marché, un patient n'en ont pas : simuler y est impossible ou plus cher qu'agir. Là, c'est l'apprentissage qui reste.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D23F"/>
                </a:solidFill>
                <a:latin typeface="Montserrat"/>
              </a:rPr>
              <a:t>LIMITES ET SUITES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4F5F8"/>
                </a:solidFill>
                <a:latin typeface="Montserrat"/>
              </a:rPr>
              <a:t>Ce que je n'affirme pas, et ce qui vient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4F5E"/>
                </a:solidFill>
                <a:latin typeface="Montserrat"/>
              </a:rPr>
              <a:t>LIMITES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512064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2898648"/>
            <a:ext cx="109728" cy="109728"/>
          </a:xfrm>
          <a:prstGeom prst="ellipse">
            <a:avLst/>
          </a:pr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78892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Pas de niveau terminé à 4 fantômes : l'agent évalue chaque croisement isolément.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94760"/>
            <a:ext cx="512064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3995928"/>
            <a:ext cx="109728" cy="109728"/>
          </a:xfrm>
          <a:prstGeom prst="ellipse">
            <a:avLst/>
          </a:pr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88620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Les 12 indicateurs sont écrits à la main : il apprend combien ça compte, pas quoi regarder.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892040"/>
            <a:ext cx="512064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" y="5093208"/>
            <a:ext cx="109728" cy="109728"/>
          </a:xfrm>
          <a:prstGeom prst="ellipse">
            <a:avLst/>
          </a:pr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98348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Un seul labyrinthe mesuré : le transfert n'est pas vérifié, donc pas affirmé.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5CE29A"/>
                </a:solidFill>
                <a:latin typeface="Montserrat"/>
              </a:rPr>
              <a:t>SUITES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697480"/>
            <a:ext cx="512064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54496" y="2898648"/>
            <a:ext cx="109728" cy="109728"/>
          </a:xfrm>
          <a:prstGeom prst="ellipse">
            <a:avLst/>
          </a:prstGeom>
          <a:solidFill>
            <a:srgbClr val="5CE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78892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Des indicateurs appris (auto-encodeur) plutôt qu'écrits à la main.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794760"/>
            <a:ext cx="512064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54496" y="3995928"/>
            <a:ext cx="109728" cy="109728"/>
          </a:xfrm>
          <a:prstGeom prst="ellipse">
            <a:avLst/>
          </a:prstGeom>
          <a:solidFill>
            <a:srgbClr val="5CE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88620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Des fantômes non myopes, avec le vrai plus court chemin : un mode difficile.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892040"/>
            <a:ext cx="5120640" cy="9525"/>
          </a:xfrm>
          <a:prstGeom prst="rect">
            <a:avLst/>
          </a:prstGeom>
          <a:solidFill>
            <a:srgbClr val="23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54496" y="5093208"/>
            <a:ext cx="109728" cy="109728"/>
          </a:xfrm>
          <a:prstGeom prst="ellipse">
            <a:avLst/>
          </a:prstGeom>
          <a:solidFill>
            <a:srgbClr val="5CE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983480"/>
            <a:ext cx="4754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Un réseau de neurones pour croiser ce qu'un modèle linéaire ne fait qu'additionner.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49808"/>
            <a:ext cx="109728" cy="10972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685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D23F"/>
                </a:solidFill>
                <a:latin typeface="Montserrat"/>
              </a:rPr>
              <a:t>USAGE DE L'IA GÉNÉRATIVE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5F8"/>
                </a:solidFill>
                <a:latin typeface="Montserrat"/>
              </a:rPr>
              <a:t>Déclaré, total, assumé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AA1B4"/>
                </a:solidFill>
                <a:latin typeface="Open Sans"/>
              </a:rPr>
              <a:t>Claude Code (Anthropic), seul outil, du 19/07 au 21/08. Chaque commit porte le trailer Co-Authored-By: Claude.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34640"/>
            <a:ext cx="5120640" cy="54864"/>
          </a:xfrm>
          <a:prstGeom prst="rect">
            <a:avLst/>
          </a:prstGeom>
          <a:solidFill>
            <a:srgbClr val="3A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154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200">
                <a:solidFill>
                  <a:srgbClr val="9AA1B4"/>
                </a:solidFill>
                <a:latin typeface="Montserrat"/>
              </a:rPr>
              <a:t>CE QU'IL A FAIT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66160"/>
            <a:ext cx="44805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Le socle du jeu, la fidélité à l'arcade, les 278 tests, l'audit sécurité, le cadrage chiffré de l'approche.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12151F"/>
          </a:solidFill>
          <a:ln w="12700">
            <a:solidFill>
              <a:srgbClr val="23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834640"/>
            <a:ext cx="5120640" cy="54864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54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200">
                <a:solidFill>
                  <a:srgbClr val="FFD23F"/>
                </a:solidFill>
                <a:latin typeface="Montserrat"/>
              </a:rPr>
              <a:t>CE QUE J'AI FAIT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66160"/>
            <a:ext cx="44805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4F5F8"/>
                </a:solidFill>
                <a:latin typeface="Open Sans"/>
              </a:rPr>
              <a:t>Cadrer, arbitrer, éprouver, refuser. Le périmètre, le choix du renforcement, les bugs que seul un joueur voit, et les deux questions qui ont produit les résultats les plus forts : « et si on lui donnait la position des fantômes ? », « les fantômes partent-ils toujours du même endroit ? 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0804" y="1495044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18004" y="1495044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5204" y="1495044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32404" y="1495044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89604" y="1495044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6804" y="1495044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4004" y="1495044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61204" y="1495044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18404" y="1495044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75604" y="1495044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2804" y="1495044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90004" y="1495044"/>
            <a:ext cx="118872" cy="118872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827532" y="1120140"/>
            <a:ext cx="868680" cy="868680"/>
          </a:xfrm>
          <a:prstGeom prst="pie">
            <a:avLst>
              <a:gd name="adj1" fmla="val 1920000"/>
              <a:gd name="adj2" fmla="val 1968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spc="-100">
                <a:solidFill>
                  <a:srgbClr val="F4F5F8"/>
                </a:solidFill>
                <a:latin typeface="Montserrat"/>
              </a:rPr>
              <a:t>Merci. Des questions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661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250">
                <a:solidFill>
                  <a:srgbClr val="FFD23F"/>
                </a:solidFill>
                <a:latin typeface="Montserrat"/>
              </a:rPr>
              <a:t>DÉMO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23F"/>
                </a:solidFill>
                <a:latin typeface="Montserrat"/>
              </a:rPr>
              <a:t>pacman-server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977639"/>
            <a:ext cx="7315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on joue, sur http://127.0.0.1:8000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80559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23F"/>
                </a:solidFill>
                <a:latin typeface="Montserrat"/>
              </a:rPr>
              <a:t>/?ia=appris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480559"/>
            <a:ext cx="7315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l'agent appris joue en direct, on le voit hésiter aux croisements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83479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23F"/>
                </a:solidFill>
                <a:latin typeface="Montserrat"/>
              </a:rPr>
              <a:t>docs/decisions.html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983479"/>
            <a:ext cx="7315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1B4"/>
                </a:solidFill>
                <a:latin typeface="Open Sans"/>
              </a:rPr>
              <a:t>chaque décision expliquée, poids par poids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23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A4052"/>
                </a:solidFill>
                <a:latin typeface="Open Sans"/>
              </a:rPr>
              <a:t>github.com/Marwwannn/Pacman</a:t>
            </a:r>
          </a:p>
        </p:txBody>
      </p:sp>
      <p:sp>
        <p:nvSpPr>
          <p:cNvPr id="25" name="Freeform 24"/>
          <p:cNvSpPr/>
          <p:nvPr/>
        </p:nvSpPr>
        <p:spPr>
          <a:xfrm>
            <a:off x="8625535" y="4937760"/>
            <a:ext cx="548640" cy="576072"/>
          </a:xfrm>
          <a:custGeom>
            <a:avLst/>
            <a:gdLst/>
            <a:ahLst/>
            <a:cxnLst/>
            <a:rect l="l" t="t" r="r" b="b"/>
            <a:pathLst>
              <a:path w="548640" h="576072">
                <a:moveTo>
                  <a:pt x="0" y="274320"/>
                </a:moveTo>
                <a:lnTo>
                  <a:pt x="4167" y="226684"/>
                </a:lnTo>
                <a:lnTo>
                  <a:pt x="16543" y="180497"/>
                </a:lnTo>
                <a:lnTo>
                  <a:pt x="36751" y="137160"/>
                </a:lnTo>
                <a:lnTo>
                  <a:pt x="64178" y="97990"/>
                </a:lnTo>
                <a:lnTo>
                  <a:pt x="97990" y="64178"/>
                </a:lnTo>
                <a:lnTo>
                  <a:pt x="137160" y="36751"/>
                </a:lnTo>
                <a:lnTo>
                  <a:pt x="180497" y="16543"/>
                </a:lnTo>
                <a:lnTo>
                  <a:pt x="226684" y="4167"/>
                </a:lnTo>
                <a:lnTo>
                  <a:pt x="274320" y="0"/>
                </a:lnTo>
                <a:lnTo>
                  <a:pt x="321955" y="4167"/>
                </a:lnTo>
                <a:lnTo>
                  <a:pt x="368142" y="16543"/>
                </a:lnTo>
                <a:lnTo>
                  <a:pt x="411480" y="36751"/>
                </a:lnTo>
                <a:lnTo>
                  <a:pt x="450649" y="64178"/>
                </a:lnTo>
                <a:lnTo>
                  <a:pt x="484461" y="97990"/>
                </a:lnTo>
                <a:lnTo>
                  <a:pt x="511888" y="137160"/>
                </a:lnTo>
                <a:lnTo>
                  <a:pt x="532096" y="180497"/>
                </a:lnTo>
                <a:lnTo>
                  <a:pt x="544472" y="226684"/>
                </a:lnTo>
                <a:lnTo>
                  <a:pt x="548640" y="274320"/>
                </a:lnTo>
                <a:lnTo>
                  <a:pt x="548640" y="576072"/>
                </a:lnTo>
                <a:lnTo>
                  <a:pt x="457200" y="499263"/>
                </a:lnTo>
                <a:lnTo>
                  <a:pt x="365760" y="576072"/>
                </a:lnTo>
                <a:lnTo>
                  <a:pt x="274320" y="499263"/>
                </a:lnTo>
                <a:lnTo>
                  <a:pt x="182880" y="576072"/>
                </a:lnTo>
                <a:lnTo>
                  <a:pt x="91440" y="499263"/>
                </a:lnTo>
                <a:lnTo>
                  <a:pt x="0" y="576072"/>
                </a:lnTo>
                <a:close/>
              </a:path>
            </a:pathLst>
          </a:custGeom>
          <a:solidFill>
            <a:srgbClr val="FF4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1723" y="5127590"/>
            <a:ext cx="120700" cy="153619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06038" y="5173676"/>
            <a:ext cx="54315" cy="69128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27287" y="5127590"/>
            <a:ext cx="120700" cy="153619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81602" y="5173676"/>
            <a:ext cx="54315" cy="69128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9357055" y="4937760"/>
            <a:ext cx="548640" cy="576072"/>
          </a:xfrm>
          <a:custGeom>
            <a:avLst/>
            <a:gdLst/>
            <a:ahLst/>
            <a:cxnLst/>
            <a:rect l="l" t="t" r="r" b="b"/>
            <a:pathLst>
              <a:path w="548640" h="576072">
                <a:moveTo>
                  <a:pt x="0" y="274320"/>
                </a:moveTo>
                <a:lnTo>
                  <a:pt x="4167" y="226684"/>
                </a:lnTo>
                <a:lnTo>
                  <a:pt x="16543" y="180497"/>
                </a:lnTo>
                <a:lnTo>
                  <a:pt x="36751" y="137160"/>
                </a:lnTo>
                <a:lnTo>
                  <a:pt x="64178" y="97990"/>
                </a:lnTo>
                <a:lnTo>
                  <a:pt x="97990" y="64178"/>
                </a:lnTo>
                <a:lnTo>
                  <a:pt x="137160" y="36751"/>
                </a:lnTo>
                <a:lnTo>
                  <a:pt x="180497" y="16543"/>
                </a:lnTo>
                <a:lnTo>
                  <a:pt x="226684" y="4167"/>
                </a:lnTo>
                <a:lnTo>
                  <a:pt x="274320" y="0"/>
                </a:lnTo>
                <a:lnTo>
                  <a:pt x="321955" y="4167"/>
                </a:lnTo>
                <a:lnTo>
                  <a:pt x="368142" y="16543"/>
                </a:lnTo>
                <a:lnTo>
                  <a:pt x="411480" y="36751"/>
                </a:lnTo>
                <a:lnTo>
                  <a:pt x="450649" y="64178"/>
                </a:lnTo>
                <a:lnTo>
                  <a:pt x="484461" y="97990"/>
                </a:lnTo>
                <a:lnTo>
                  <a:pt x="511888" y="137160"/>
                </a:lnTo>
                <a:lnTo>
                  <a:pt x="532096" y="180497"/>
                </a:lnTo>
                <a:lnTo>
                  <a:pt x="544472" y="226684"/>
                </a:lnTo>
                <a:lnTo>
                  <a:pt x="548640" y="274320"/>
                </a:lnTo>
                <a:lnTo>
                  <a:pt x="548640" y="576072"/>
                </a:lnTo>
                <a:lnTo>
                  <a:pt x="457200" y="499263"/>
                </a:lnTo>
                <a:lnTo>
                  <a:pt x="365760" y="576072"/>
                </a:lnTo>
                <a:lnTo>
                  <a:pt x="274320" y="499263"/>
                </a:lnTo>
                <a:lnTo>
                  <a:pt x="182880" y="576072"/>
                </a:lnTo>
                <a:lnTo>
                  <a:pt x="91440" y="499263"/>
                </a:lnTo>
                <a:lnTo>
                  <a:pt x="0" y="576072"/>
                </a:lnTo>
                <a:close/>
              </a:path>
            </a:pathLst>
          </a:custGeom>
          <a:solidFill>
            <a:srgbClr val="FF9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83243" y="5127590"/>
            <a:ext cx="120700" cy="153619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37558" y="5173676"/>
            <a:ext cx="54315" cy="69128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58807" y="5127590"/>
            <a:ext cx="120700" cy="153619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13122" y="5173676"/>
            <a:ext cx="54315" cy="69128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0088575" y="4937760"/>
            <a:ext cx="548640" cy="576072"/>
          </a:xfrm>
          <a:custGeom>
            <a:avLst/>
            <a:gdLst/>
            <a:ahLst/>
            <a:cxnLst/>
            <a:rect l="l" t="t" r="r" b="b"/>
            <a:pathLst>
              <a:path w="548640" h="576072">
                <a:moveTo>
                  <a:pt x="0" y="274320"/>
                </a:moveTo>
                <a:lnTo>
                  <a:pt x="4167" y="226684"/>
                </a:lnTo>
                <a:lnTo>
                  <a:pt x="16543" y="180497"/>
                </a:lnTo>
                <a:lnTo>
                  <a:pt x="36751" y="137160"/>
                </a:lnTo>
                <a:lnTo>
                  <a:pt x="64178" y="97990"/>
                </a:lnTo>
                <a:lnTo>
                  <a:pt x="97990" y="64178"/>
                </a:lnTo>
                <a:lnTo>
                  <a:pt x="137160" y="36751"/>
                </a:lnTo>
                <a:lnTo>
                  <a:pt x="180497" y="16543"/>
                </a:lnTo>
                <a:lnTo>
                  <a:pt x="226684" y="4167"/>
                </a:lnTo>
                <a:lnTo>
                  <a:pt x="274320" y="0"/>
                </a:lnTo>
                <a:lnTo>
                  <a:pt x="321955" y="4167"/>
                </a:lnTo>
                <a:lnTo>
                  <a:pt x="368142" y="16543"/>
                </a:lnTo>
                <a:lnTo>
                  <a:pt x="411480" y="36751"/>
                </a:lnTo>
                <a:lnTo>
                  <a:pt x="450649" y="64178"/>
                </a:lnTo>
                <a:lnTo>
                  <a:pt x="484461" y="97990"/>
                </a:lnTo>
                <a:lnTo>
                  <a:pt x="511888" y="137160"/>
                </a:lnTo>
                <a:lnTo>
                  <a:pt x="532096" y="180497"/>
                </a:lnTo>
                <a:lnTo>
                  <a:pt x="544472" y="226684"/>
                </a:lnTo>
                <a:lnTo>
                  <a:pt x="548640" y="274320"/>
                </a:lnTo>
                <a:lnTo>
                  <a:pt x="548640" y="576072"/>
                </a:lnTo>
                <a:lnTo>
                  <a:pt x="457200" y="499263"/>
                </a:lnTo>
                <a:lnTo>
                  <a:pt x="365760" y="576072"/>
                </a:lnTo>
                <a:lnTo>
                  <a:pt x="274320" y="499263"/>
                </a:lnTo>
                <a:lnTo>
                  <a:pt x="182880" y="576072"/>
                </a:lnTo>
                <a:lnTo>
                  <a:pt x="91440" y="499263"/>
                </a:lnTo>
                <a:lnTo>
                  <a:pt x="0" y="576072"/>
                </a:lnTo>
                <a:close/>
              </a:path>
            </a:pathLst>
          </a:custGeom>
          <a:solidFill>
            <a:srgbClr val="4F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4763" y="5127590"/>
            <a:ext cx="120700" cy="153619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69078" y="5173676"/>
            <a:ext cx="54315" cy="69128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90327" y="5127590"/>
            <a:ext cx="120700" cy="153619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444642" y="5173676"/>
            <a:ext cx="54315" cy="69128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0820095" y="4937760"/>
            <a:ext cx="548640" cy="576072"/>
          </a:xfrm>
          <a:custGeom>
            <a:avLst/>
            <a:gdLst/>
            <a:ahLst/>
            <a:cxnLst/>
            <a:rect l="l" t="t" r="r" b="b"/>
            <a:pathLst>
              <a:path w="548640" h="576072">
                <a:moveTo>
                  <a:pt x="0" y="274320"/>
                </a:moveTo>
                <a:lnTo>
                  <a:pt x="4167" y="226684"/>
                </a:lnTo>
                <a:lnTo>
                  <a:pt x="16543" y="180497"/>
                </a:lnTo>
                <a:lnTo>
                  <a:pt x="36751" y="137160"/>
                </a:lnTo>
                <a:lnTo>
                  <a:pt x="64178" y="97990"/>
                </a:lnTo>
                <a:lnTo>
                  <a:pt x="97990" y="64178"/>
                </a:lnTo>
                <a:lnTo>
                  <a:pt x="137160" y="36751"/>
                </a:lnTo>
                <a:lnTo>
                  <a:pt x="180497" y="16543"/>
                </a:lnTo>
                <a:lnTo>
                  <a:pt x="226684" y="4167"/>
                </a:lnTo>
                <a:lnTo>
                  <a:pt x="274320" y="0"/>
                </a:lnTo>
                <a:lnTo>
                  <a:pt x="321955" y="4167"/>
                </a:lnTo>
                <a:lnTo>
                  <a:pt x="368142" y="16543"/>
                </a:lnTo>
                <a:lnTo>
                  <a:pt x="411480" y="36751"/>
                </a:lnTo>
                <a:lnTo>
                  <a:pt x="450649" y="64178"/>
                </a:lnTo>
                <a:lnTo>
                  <a:pt x="484461" y="97990"/>
                </a:lnTo>
                <a:lnTo>
                  <a:pt x="511888" y="137160"/>
                </a:lnTo>
                <a:lnTo>
                  <a:pt x="532096" y="180497"/>
                </a:lnTo>
                <a:lnTo>
                  <a:pt x="544472" y="226684"/>
                </a:lnTo>
                <a:lnTo>
                  <a:pt x="548640" y="274320"/>
                </a:lnTo>
                <a:lnTo>
                  <a:pt x="548640" y="576072"/>
                </a:lnTo>
                <a:lnTo>
                  <a:pt x="457200" y="499263"/>
                </a:lnTo>
                <a:lnTo>
                  <a:pt x="365760" y="576072"/>
                </a:lnTo>
                <a:lnTo>
                  <a:pt x="274320" y="499263"/>
                </a:lnTo>
                <a:lnTo>
                  <a:pt x="182880" y="576072"/>
                </a:lnTo>
                <a:lnTo>
                  <a:pt x="91440" y="499263"/>
                </a:lnTo>
                <a:lnTo>
                  <a:pt x="0" y="576072"/>
                </a:lnTo>
                <a:close/>
              </a:path>
            </a:pathLst>
          </a:custGeom>
          <a:solidFill>
            <a:srgbClr val="FFB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46283" y="5127590"/>
            <a:ext cx="120700" cy="153619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000598" y="5173676"/>
            <a:ext cx="54315" cy="69128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121847" y="5127590"/>
            <a:ext cx="120700" cy="153619"/>
          </a:xfrm>
          <a:prstGeom prst="ellipse">
            <a:avLst/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176162" y="5173676"/>
            <a:ext cx="54315" cy="69128"/>
          </a:xfrm>
          <a:prstGeom prst="ellipse">
            <a:avLst/>
          </a:prstGeom>
          <a:solidFill>
            <a:srgbClr val="0A0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62910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200">
                <a:solidFill>
                  <a:srgbClr val="3A4052"/>
                </a:solidFill>
                <a:latin typeface="Montserrat"/>
              </a:rPr>
              <a:t>PAC-MAN · UN JEU, QUATRE JOUEURS ARTIFICIELS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65815" y="6245352"/>
            <a:ext cx="502920" cy="329184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65815" y="6245352"/>
            <a:ext cx="502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0C14"/>
                </a:solidFill>
                <a:latin typeface="Montserrat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